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7" r:id="rId2"/>
    <p:sldId id="257" r:id="rId3"/>
    <p:sldId id="298" r:id="rId4"/>
    <p:sldId id="258" r:id="rId5"/>
    <p:sldId id="261" r:id="rId6"/>
    <p:sldId id="320" r:id="rId7"/>
    <p:sldId id="301" r:id="rId8"/>
    <p:sldId id="308" r:id="rId9"/>
    <p:sldId id="317" r:id="rId10"/>
    <p:sldId id="316" r:id="rId11"/>
    <p:sldId id="319" r:id="rId12"/>
    <p:sldId id="299" r:id="rId13"/>
    <p:sldId id="302" r:id="rId14"/>
    <p:sldId id="305" r:id="rId15"/>
    <p:sldId id="313" r:id="rId16"/>
    <p:sldId id="264" r:id="rId17"/>
    <p:sldId id="315" r:id="rId18"/>
    <p:sldId id="31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D2D8"/>
    <a:srgbClr val="F1F1F3"/>
    <a:srgbClr val="CC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24A4C7-B385-94A8-9FBE-252179BAD2D5}" v="104" dt="2025-09-25T01:09:58.1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59" autoAdjust="0"/>
    <p:restoredTop sz="94660"/>
  </p:normalViewPr>
  <p:slideViewPr>
    <p:cSldViewPr snapToGrid="0">
      <p:cViewPr varScale="1">
        <p:scale>
          <a:sx n="91" d="100"/>
          <a:sy n="91" d="100"/>
        </p:scale>
        <p:origin x="1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7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FC8D62-C916-4B83-ACF6-3B8FF714C2DE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6F69D-8E54-45DF-8DD9-E26C6A2072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139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개요 대충 소개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6F69D-8E54-45DF-8DD9-E26C6A20722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980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rachel0115.tistory.com/entry/MySQL-%EC%9D%B8%EB%8D%B1%EC%8A%A4-INDEX-%EC%A0%95%EB%A6%AC-%EB%8F%99%EC%9E%91-%EB%B0%A9%EC%8B%9D-%EC%83%9D%EC%84%B1-%EC%82%AD%EC%A0%9C-%EC%84%A4%EA%B3%84" TargetMode="External"/><Relationship Id="rId2" Type="http://schemas.openxmlformats.org/officeDocument/2006/relationships/hyperlink" Target="https://gu-ma.tistory.com/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amdule.tistory.com/112#google_vignette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6B9C4-F7D6-BC88-F7CA-27AE1DFFC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35730"/>
            <a:ext cx="9144000" cy="1066308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solidFill>
                  <a:schemeClr val="tx2"/>
                </a:solidFill>
              </a:rPr>
              <a:t>음악 기록 및 커스텀 플랫폼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AA480E-2FE1-2DEC-3C15-F3A97E119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60731"/>
            <a:ext cx="9144000" cy="454572"/>
          </a:xfrm>
        </p:spPr>
        <p:txBody>
          <a:bodyPr/>
          <a:lstStyle/>
          <a:p>
            <a:r>
              <a:rPr lang="en-US" altLang="ko-KR" dirty="0">
                <a:solidFill>
                  <a:schemeClr val="tx2"/>
                </a:solidFill>
              </a:rPr>
              <a:t>2023270665 </a:t>
            </a:r>
            <a:r>
              <a:rPr lang="ko-KR" altLang="en-US" dirty="0" err="1">
                <a:solidFill>
                  <a:schemeClr val="tx2"/>
                </a:solidFill>
              </a:rPr>
              <a:t>임도언</a:t>
            </a:r>
            <a:endParaRPr lang="ko-KR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351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순서도: 지연 4">
            <a:extLst>
              <a:ext uri="{FF2B5EF4-FFF2-40B4-BE49-F238E27FC236}">
                <a16:creationId xmlns:a16="http://schemas.microsoft.com/office/drawing/2014/main" id="{3D968950-7E33-9EA8-EC1E-61E849FFA615}"/>
              </a:ext>
            </a:extLst>
          </p:cNvPr>
          <p:cNvSpPr/>
          <p:nvPr/>
        </p:nvSpPr>
        <p:spPr>
          <a:xfrm>
            <a:off x="0" y="365125"/>
            <a:ext cx="2144110" cy="1325563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ED2D21-743C-AE4B-BD97-434374C9B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ko-KR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1. </a:t>
            </a:r>
            <a:r>
              <a:rPr lang="ko-KR" altLang="en-US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주제 선정 이유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2. </a:t>
            </a:r>
            <a:r>
              <a:rPr lang="ko-KR" altLang="en-US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요구사항 및 설계도</a:t>
            </a:r>
            <a:endParaRPr lang="en-US" altLang="ko-KR" dirty="0">
              <a:solidFill>
                <a:srgbClr val="002060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3. </a:t>
            </a:r>
            <a:r>
              <a:rPr lang="ko-KR" altLang="en-US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프로시저 기능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4. </a:t>
            </a:r>
            <a:r>
              <a:rPr lang="ko-KR" altLang="en-US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프로젝트 실행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0BF5BDB-F0B5-E111-D282-266A57A23816}"/>
              </a:ext>
            </a:extLst>
          </p:cNvPr>
          <p:cNvSpPr txBox="1">
            <a:spLocks/>
          </p:cNvSpPr>
          <p:nvPr/>
        </p:nvSpPr>
        <p:spPr>
          <a:xfrm>
            <a:off x="609600" y="365125"/>
            <a:ext cx="10744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27733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F482157-7542-6E3C-4A17-09FC89B8A863}"/>
              </a:ext>
            </a:extLst>
          </p:cNvPr>
          <p:cNvSpPr/>
          <p:nvPr/>
        </p:nvSpPr>
        <p:spPr>
          <a:xfrm>
            <a:off x="609600" y="365125"/>
            <a:ext cx="11790680" cy="1325563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553437A6-E26D-C249-390D-8A996D339BA1}"/>
              </a:ext>
            </a:extLst>
          </p:cNvPr>
          <p:cNvSpPr/>
          <p:nvPr/>
        </p:nvSpPr>
        <p:spPr>
          <a:xfrm>
            <a:off x="0" y="365125"/>
            <a:ext cx="1559560" cy="1325563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4C85C4F-2DD2-E5CC-076B-78E3FEB6C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4200" cy="1325563"/>
          </a:xfrm>
        </p:spPr>
        <p:txBody>
          <a:bodyPr/>
          <a:lstStyle/>
          <a:p>
            <a:r>
              <a:rPr lang="en-US" altLang="ko-KR" dirty="0"/>
              <a:t>1    </a:t>
            </a:r>
            <a:r>
              <a:rPr lang="ko-KR" altLang="en-US" dirty="0"/>
              <a:t>주제 선정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FC3B7B-1A42-F250-A055-C6FFE0C64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3751"/>
            <a:ext cx="10515600" cy="414321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이런 음악 플랫폼이 있으면 좋겠다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400" dirty="0"/>
              <a:t>1. </a:t>
            </a:r>
            <a:r>
              <a:rPr lang="ko-KR" altLang="en-US" sz="2400" dirty="0"/>
              <a:t>평가 기능이 있는 음악 플랫폼</a:t>
            </a:r>
            <a:endParaRPr lang="en-US" altLang="ko-KR" sz="24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400" dirty="0"/>
              <a:t>2. </a:t>
            </a:r>
            <a:r>
              <a:rPr lang="ko-KR" altLang="en-US" sz="2400" dirty="0"/>
              <a:t>음악을 들으며 느낀 감상을 그때그때 메모할 수 있는 기능</a:t>
            </a:r>
            <a:endParaRPr lang="en-US" altLang="ko-KR" sz="24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400" dirty="0"/>
              <a:t>3. </a:t>
            </a:r>
            <a:r>
              <a:rPr lang="ko-KR" altLang="en-US" sz="2400" dirty="0" err="1"/>
              <a:t>해쉬태그로</a:t>
            </a:r>
            <a:r>
              <a:rPr lang="ko-KR" altLang="en-US" sz="2400" dirty="0"/>
              <a:t> 노래 분류</a:t>
            </a:r>
            <a:endParaRPr lang="en-US" altLang="ko-KR" sz="24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2882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C1758EEC-0000-7CA8-3145-523DFCA03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699" y="1732170"/>
            <a:ext cx="2810204" cy="2885747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D389D62-97A1-BB14-6356-75A938D49AE0}"/>
              </a:ext>
            </a:extLst>
          </p:cNvPr>
          <p:cNvSpPr/>
          <p:nvPr/>
        </p:nvSpPr>
        <p:spPr>
          <a:xfrm>
            <a:off x="609600" y="365125"/>
            <a:ext cx="11790680" cy="1325563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E4ED2801-8889-4552-14D4-A8F1F1E3BCEE}"/>
              </a:ext>
            </a:extLst>
          </p:cNvPr>
          <p:cNvSpPr/>
          <p:nvPr/>
        </p:nvSpPr>
        <p:spPr>
          <a:xfrm>
            <a:off x="0" y="365125"/>
            <a:ext cx="1559560" cy="1325563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60AED59-FE05-F29F-25C5-8094E5DC1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4200" cy="1325563"/>
          </a:xfrm>
        </p:spPr>
        <p:txBody>
          <a:bodyPr/>
          <a:lstStyle/>
          <a:p>
            <a:r>
              <a:rPr lang="en-US" altLang="ko-KR" dirty="0"/>
              <a:t>2    </a:t>
            </a:r>
            <a:r>
              <a:rPr lang="ko-KR" altLang="en-US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요구사항 및 설계도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A4F4EF-736A-583A-8761-6BF87FEC2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0385"/>
            <a:ext cx="10515600" cy="4006577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dirty="0"/>
              <a:t>로그인 및 회원가입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dirty="0"/>
              <a:t>아티스트</a:t>
            </a:r>
            <a:r>
              <a:rPr lang="en-US" altLang="ko-KR" dirty="0"/>
              <a:t>, </a:t>
            </a:r>
            <a:r>
              <a:rPr lang="ko-KR" altLang="en-US" dirty="0"/>
              <a:t>앨범</a:t>
            </a:r>
            <a:r>
              <a:rPr lang="en-US" altLang="ko-KR" dirty="0"/>
              <a:t>, </a:t>
            </a:r>
            <a:r>
              <a:rPr lang="ko-KR" altLang="en-US" dirty="0"/>
              <a:t>노래 추가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dirty="0" err="1"/>
              <a:t>별점</a:t>
            </a:r>
            <a:r>
              <a:rPr lang="ko-KR" altLang="en-US" dirty="0"/>
              <a:t> 및 평가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dirty="0" err="1"/>
              <a:t>해쉬태그</a:t>
            </a:r>
            <a:r>
              <a:rPr lang="en-US" altLang="ko-KR" dirty="0"/>
              <a:t> </a:t>
            </a:r>
            <a:r>
              <a:rPr lang="ko-KR" altLang="en-US" dirty="0"/>
              <a:t>및 간단한 메모</a:t>
            </a:r>
            <a:r>
              <a:rPr lang="en-US" altLang="ko-KR" dirty="0"/>
              <a:t> </a:t>
            </a:r>
            <a:r>
              <a:rPr lang="ko-KR" altLang="en-US" dirty="0"/>
              <a:t>기능</a:t>
            </a:r>
            <a:r>
              <a:rPr lang="en-US" altLang="ko-KR" dirty="0"/>
              <a:t> (</a:t>
            </a:r>
            <a:r>
              <a:rPr lang="ko-KR" altLang="en-US" dirty="0"/>
              <a:t>공개 비공개 설정 가능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A4467B8-4965-6770-658F-D883BFA2F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699" y="1857589"/>
            <a:ext cx="3093984" cy="263491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449C188-7061-EFE7-7BD6-E09B76C90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699" y="1893478"/>
            <a:ext cx="4131914" cy="259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825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B730C-7C92-DB7F-0604-FF12B5B6D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B751547-1B6F-457F-7842-4294741B7746}"/>
              </a:ext>
            </a:extLst>
          </p:cNvPr>
          <p:cNvSpPr/>
          <p:nvPr/>
        </p:nvSpPr>
        <p:spPr>
          <a:xfrm>
            <a:off x="609600" y="365125"/>
            <a:ext cx="11790680" cy="1325563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C376E208-CB86-41E6-3941-1B6A3316E7C4}"/>
              </a:ext>
            </a:extLst>
          </p:cNvPr>
          <p:cNvSpPr/>
          <p:nvPr/>
        </p:nvSpPr>
        <p:spPr>
          <a:xfrm>
            <a:off x="0" y="365125"/>
            <a:ext cx="1559560" cy="1325563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7C4E694-9A4E-A55E-DC4A-CEC50CAC8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4200" cy="1325563"/>
          </a:xfrm>
        </p:spPr>
        <p:txBody>
          <a:bodyPr/>
          <a:lstStyle/>
          <a:p>
            <a:r>
              <a:rPr lang="en-US" altLang="ko-KR" dirty="0"/>
              <a:t>2    </a:t>
            </a:r>
            <a:r>
              <a:rPr lang="ko-KR" altLang="en-US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요구사항 및 설계도 </a:t>
            </a:r>
            <a:r>
              <a:rPr lang="en-US" altLang="ko-KR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</a:t>
            </a:r>
            <a:r>
              <a:rPr lang="ko-KR" altLang="en-US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제안서</a:t>
            </a:r>
            <a:r>
              <a:rPr lang="en-US" altLang="ko-KR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4BE8D9-5188-1A8C-5A8B-2C402D2BC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094BF68-956C-98C6-AB19-223AAF39A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596" y="1732273"/>
            <a:ext cx="6304807" cy="512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39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8309F-0FAB-48EE-2D08-2EE9C998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3618F0B-A55A-B93F-6D15-EC53ADDBCD1A}"/>
              </a:ext>
            </a:extLst>
          </p:cNvPr>
          <p:cNvSpPr/>
          <p:nvPr/>
        </p:nvSpPr>
        <p:spPr>
          <a:xfrm>
            <a:off x="609600" y="365125"/>
            <a:ext cx="11790680" cy="1325563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6D8790E1-BB3E-48F9-D452-87249B191357}"/>
              </a:ext>
            </a:extLst>
          </p:cNvPr>
          <p:cNvSpPr/>
          <p:nvPr/>
        </p:nvSpPr>
        <p:spPr>
          <a:xfrm>
            <a:off x="0" y="365125"/>
            <a:ext cx="1559560" cy="1325563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789737D-7879-B30D-FB44-A98EDD2F9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4200" cy="1325563"/>
          </a:xfrm>
        </p:spPr>
        <p:txBody>
          <a:bodyPr/>
          <a:lstStyle/>
          <a:p>
            <a:r>
              <a:rPr lang="en-US" altLang="ko-KR" dirty="0"/>
              <a:t>2    </a:t>
            </a:r>
            <a:r>
              <a:rPr lang="ko-KR" altLang="en-US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요구사항 및 설계도 </a:t>
            </a:r>
            <a:r>
              <a:rPr lang="en-US" altLang="ko-KR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</a:t>
            </a:r>
            <a:r>
              <a:rPr lang="ko-KR" altLang="en-US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최종 테이블</a:t>
            </a:r>
            <a:r>
              <a:rPr lang="en-US" altLang="ko-KR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  <a:endParaRPr lang="ko-KR" altLang="en-US" dirty="0"/>
          </a:p>
        </p:txBody>
      </p:sp>
      <p:pic>
        <p:nvPicPr>
          <p:cNvPr id="8" name="내용 개체 틀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290532-93A3-6A38-C58B-E93E03214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049" y="2699898"/>
            <a:ext cx="7451902" cy="3233192"/>
          </a:xfrm>
        </p:spPr>
      </p:pic>
      <p:pic>
        <p:nvPicPr>
          <p:cNvPr id="13" name="그림 1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DF4D1F-9096-DAA0-89C5-EB5D03E28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438" y="2764221"/>
            <a:ext cx="7931124" cy="2958662"/>
          </a:xfrm>
          <a:prstGeom prst="rect">
            <a:avLst/>
          </a:prstGeom>
        </p:spPr>
      </p:pic>
      <p:pic>
        <p:nvPicPr>
          <p:cNvPr id="15" name="그림 1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A748CE-E3A8-86E2-B289-F24851CC43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056" y="2699898"/>
            <a:ext cx="8781393" cy="3242253"/>
          </a:xfrm>
          <a:prstGeom prst="rect">
            <a:avLst/>
          </a:prstGeom>
        </p:spPr>
      </p:pic>
      <p:pic>
        <p:nvPicPr>
          <p:cNvPr id="17" name="그림 1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FB21EE-FF8A-BB33-EC77-0A58E8B324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749" y="2699898"/>
            <a:ext cx="7451902" cy="3320506"/>
          </a:xfrm>
          <a:prstGeom prst="rect">
            <a:avLst/>
          </a:prstGeom>
        </p:spPr>
      </p:pic>
      <p:pic>
        <p:nvPicPr>
          <p:cNvPr id="19" name="그림 1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372DEB-0CA9-D594-4533-ED109D3953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545" y="2587000"/>
            <a:ext cx="8040414" cy="3546302"/>
          </a:xfrm>
          <a:prstGeom prst="rect">
            <a:avLst/>
          </a:prstGeom>
        </p:spPr>
      </p:pic>
      <p:pic>
        <p:nvPicPr>
          <p:cNvPr id="21" name="그림 2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2B6E41-DE88-00F0-3B6D-B8FE22369C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545" y="2544661"/>
            <a:ext cx="8092966" cy="3543666"/>
          </a:xfrm>
          <a:prstGeom prst="rect">
            <a:avLst/>
          </a:prstGeom>
        </p:spPr>
      </p:pic>
      <p:pic>
        <p:nvPicPr>
          <p:cNvPr id="23" name="그림 22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BD6C82-2949-B6B7-6574-27B17D3956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620" y="2764221"/>
            <a:ext cx="9281522" cy="3011557"/>
          </a:xfrm>
          <a:prstGeom prst="rect">
            <a:avLst/>
          </a:prstGeom>
        </p:spPr>
      </p:pic>
      <p:pic>
        <p:nvPicPr>
          <p:cNvPr id="25" name="그림 2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80216A-A42D-8930-17B6-B3C04878AC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420" y="2553722"/>
            <a:ext cx="9238593" cy="331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76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E1CA3-1815-73EA-4204-FA78B92DF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395F922-6BEE-1872-F333-CAC5745F088A}"/>
              </a:ext>
            </a:extLst>
          </p:cNvPr>
          <p:cNvSpPr/>
          <p:nvPr/>
        </p:nvSpPr>
        <p:spPr>
          <a:xfrm>
            <a:off x="609600" y="365125"/>
            <a:ext cx="11790680" cy="1325563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238D710B-AA78-404A-54F9-0C4149374B0D}"/>
              </a:ext>
            </a:extLst>
          </p:cNvPr>
          <p:cNvSpPr/>
          <p:nvPr/>
        </p:nvSpPr>
        <p:spPr>
          <a:xfrm>
            <a:off x="0" y="365125"/>
            <a:ext cx="1559560" cy="1325563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5E7CF8C-1951-9F2C-6E3B-6550D6F6C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4200" cy="1325563"/>
          </a:xfrm>
        </p:spPr>
        <p:txBody>
          <a:bodyPr/>
          <a:lstStyle/>
          <a:p>
            <a:r>
              <a:rPr lang="en-US" altLang="ko-KR" dirty="0"/>
              <a:t>2    </a:t>
            </a:r>
            <a:r>
              <a:rPr lang="ko-KR" altLang="en-US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요구사항 및 설계도 </a:t>
            </a:r>
            <a:r>
              <a:rPr lang="en-US" altLang="ko-KR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</a:t>
            </a:r>
            <a:r>
              <a:rPr lang="ko-KR" altLang="en-US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최종 테이블</a:t>
            </a:r>
            <a:r>
              <a:rPr lang="en-US" altLang="ko-KR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)</a:t>
            </a:r>
            <a:endParaRPr lang="ko-KR" altLang="en-US" dirty="0"/>
          </a:p>
        </p:txBody>
      </p:sp>
      <p:pic>
        <p:nvPicPr>
          <p:cNvPr id="9" name="내용 개체 틀 8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98051F-854F-AA4F-99D3-E206644D87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843" y="1706670"/>
            <a:ext cx="7240313" cy="5151330"/>
          </a:xfrm>
        </p:spPr>
      </p:pic>
    </p:spTree>
    <p:extLst>
      <p:ext uri="{BB962C8B-B14F-4D97-AF65-F5344CB8AC3E}">
        <p14:creationId xmlns:p14="http://schemas.microsoft.com/office/powerpoint/2010/main" val="768008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EF26C-BB1F-8C4E-9AFB-FB1D0725A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2623678-9FBD-CC8D-388F-EBCAA52D9EDD}"/>
              </a:ext>
            </a:extLst>
          </p:cNvPr>
          <p:cNvSpPr/>
          <p:nvPr/>
        </p:nvSpPr>
        <p:spPr>
          <a:xfrm>
            <a:off x="609600" y="365125"/>
            <a:ext cx="11790680" cy="1325563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EB107B19-AA99-8AFC-5301-6AC2373E08A6}"/>
              </a:ext>
            </a:extLst>
          </p:cNvPr>
          <p:cNvSpPr/>
          <p:nvPr/>
        </p:nvSpPr>
        <p:spPr>
          <a:xfrm>
            <a:off x="0" y="365125"/>
            <a:ext cx="1559560" cy="1325563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B82C0B-1B1D-32B6-D469-1DA6FD080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4200" cy="1325563"/>
          </a:xfrm>
        </p:spPr>
        <p:txBody>
          <a:bodyPr/>
          <a:lstStyle/>
          <a:p>
            <a:r>
              <a:rPr lang="en-US" altLang="ko-KR" dirty="0"/>
              <a:t>2    </a:t>
            </a:r>
            <a:r>
              <a:rPr lang="ko-KR" altLang="en-US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요구사항 및 설계도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08C9A5-648F-6AB2-B606-C14562ABC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제안서와의 </a:t>
            </a:r>
            <a:r>
              <a:rPr lang="ko-KR" altLang="en-US" dirty="0" err="1"/>
              <a:t>변경점</a:t>
            </a:r>
            <a:endParaRPr lang="en-US" altLang="ko-KR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dirty="0"/>
              <a:t>1. ‘notes’</a:t>
            </a:r>
            <a:r>
              <a:rPr lang="ko-KR" altLang="en-US" dirty="0"/>
              <a:t>와 </a:t>
            </a:r>
            <a:r>
              <a:rPr lang="en-US" altLang="ko-KR" dirty="0"/>
              <a:t>‘hashtags’ </a:t>
            </a:r>
            <a:r>
              <a:rPr lang="ko-KR" altLang="en-US" dirty="0"/>
              <a:t>테이블의 분리</a:t>
            </a:r>
            <a:endParaRPr lang="en-US" altLang="ko-KR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dirty="0"/>
              <a:t>2. ‘notes’ </a:t>
            </a:r>
            <a:r>
              <a:rPr lang="ko-KR" altLang="en-US" dirty="0"/>
              <a:t>테이블의 확장 </a:t>
            </a:r>
            <a:r>
              <a:rPr lang="en-US" altLang="ko-KR" dirty="0"/>
              <a:t>(</a:t>
            </a:r>
            <a:r>
              <a:rPr lang="ko-KR" altLang="en-US" dirty="0" err="1"/>
              <a:t>다형적</a:t>
            </a:r>
            <a:r>
              <a:rPr lang="ko-KR" altLang="en-US" dirty="0"/>
              <a:t> 관계 도입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dirty="0"/>
              <a:t>3. </a:t>
            </a:r>
            <a:r>
              <a:rPr lang="ko-KR" altLang="en-US" dirty="0"/>
              <a:t>유니크 키 도입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3893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A7BAA-EB08-3C4D-F3DD-DDF318F56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2E7A499-C310-36A8-2B55-E111850AB419}"/>
              </a:ext>
            </a:extLst>
          </p:cNvPr>
          <p:cNvSpPr/>
          <p:nvPr/>
        </p:nvSpPr>
        <p:spPr>
          <a:xfrm>
            <a:off x="609600" y="365125"/>
            <a:ext cx="11790680" cy="1325563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2F8509CE-B442-FBC5-FE57-243567340F01}"/>
              </a:ext>
            </a:extLst>
          </p:cNvPr>
          <p:cNvSpPr/>
          <p:nvPr/>
        </p:nvSpPr>
        <p:spPr>
          <a:xfrm>
            <a:off x="0" y="365125"/>
            <a:ext cx="1559560" cy="1325563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AE679A-A828-AF47-C402-CAFFF989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4200" cy="1325563"/>
          </a:xfrm>
        </p:spPr>
        <p:txBody>
          <a:bodyPr/>
          <a:lstStyle/>
          <a:p>
            <a:r>
              <a:rPr lang="en-US" altLang="ko-KR" dirty="0"/>
              <a:t>2    </a:t>
            </a:r>
            <a:r>
              <a:rPr lang="ko-KR" altLang="en-US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요구사항 및 설계도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B324626-2741-CA4D-1E4A-EE3D8E558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제안서와의 </a:t>
            </a:r>
            <a:r>
              <a:rPr lang="ko-KR" altLang="en-US" dirty="0" err="1"/>
              <a:t>변경점</a:t>
            </a:r>
            <a:endParaRPr lang="en-US" altLang="ko-KR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dirty="0"/>
              <a:t>1. ‘notes’</a:t>
            </a:r>
            <a:r>
              <a:rPr lang="ko-KR" altLang="en-US" dirty="0"/>
              <a:t>와 </a:t>
            </a:r>
            <a:r>
              <a:rPr lang="en-US" altLang="ko-KR" dirty="0"/>
              <a:t>‘hashtags’ </a:t>
            </a:r>
            <a:r>
              <a:rPr lang="ko-KR" altLang="en-US" dirty="0"/>
              <a:t>테이블의 분리</a:t>
            </a:r>
            <a:endParaRPr lang="en-US" altLang="ko-KR" dirty="0"/>
          </a:p>
        </p:txBody>
      </p:sp>
      <p:pic>
        <p:nvPicPr>
          <p:cNvPr id="3" name="내용 개체 틀 8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6C9D61-36E2-09C5-D736-0B13E81A0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04" t="53841"/>
          <a:stretch>
            <a:fillRect/>
          </a:stretch>
        </p:blipFill>
        <p:spPr>
          <a:xfrm>
            <a:off x="5980387" y="3689131"/>
            <a:ext cx="5702183" cy="316886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CE461EF-7214-E000-E693-85E3F7B51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78161"/>
            <a:ext cx="2252116" cy="2790806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B5217646-23F4-39D6-770E-C868A5AC5A65}"/>
              </a:ext>
            </a:extLst>
          </p:cNvPr>
          <p:cNvSpPr/>
          <p:nvPr/>
        </p:nvSpPr>
        <p:spPr>
          <a:xfrm>
            <a:off x="3627681" y="4837384"/>
            <a:ext cx="1815341" cy="8723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403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7D34A-FCA0-525B-5407-5AFF98CA3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6447588-0E90-4FC4-7784-A97A88CB0F40}"/>
              </a:ext>
            </a:extLst>
          </p:cNvPr>
          <p:cNvSpPr/>
          <p:nvPr/>
        </p:nvSpPr>
        <p:spPr>
          <a:xfrm>
            <a:off x="609600" y="365125"/>
            <a:ext cx="11790680" cy="1325563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07515000-44DC-872D-DEE1-B52380BE4103}"/>
              </a:ext>
            </a:extLst>
          </p:cNvPr>
          <p:cNvSpPr/>
          <p:nvPr/>
        </p:nvSpPr>
        <p:spPr>
          <a:xfrm>
            <a:off x="0" y="365125"/>
            <a:ext cx="1559560" cy="1325563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0EE7310-C6E8-E4C0-B337-0AB9854D8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4200" cy="1325563"/>
          </a:xfrm>
        </p:spPr>
        <p:txBody>
          <a:bodyPr/>
          <a:lstStyle/>
          <a:p>
            <a:r>
              <a:rPr lang="en-US" altLang="ko-KR" dirty="0"/>
              <a:t>2    </a:t>
            </a:r>
            <a:r>
              <a:rPr lang="ko-KR" altLang="en-US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요구사항 및 설계도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8DB5391-6495-38FF-441A-B4AFF6CDF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제안서와의 </a:t>
            </a:r>
            <a:r>
              <a:rPr lang="ko-KR" altLang="en-US" dirty="0" err="1"/>
              <a:t>변경점</a:t>
            </a:r>
            <a:endParaRPr lang="en-US" altLang="ko-KR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dirty="0"/>
              <a:t>2. ‘notes’ </a:t>
            </a:r>
            <a:r>
              <a:rPr lang="ko-KR" altLang="en-US" dirty="0"/>
              <a:t>테이블의 확장 </a:t>
            </a:r>
            <a:r>
              <a:rPr lang="en-US" altLang="ko-KR" dirty="0"/>
              <a:t>(</a:t>
            </a:r>
            <a:r>
              <a:rPr lang="en-US" altLang="ko-KR" dirty="0" err="1"/>
              <a:t>entity_id</a:t>
            </a:r>
            <a:r>
              <a:rPr lang="en-US" altLang="ko-KR" dirty="0"/>
              <a:t>, </a:t>
            </a:r>
            <a:r>
              <a:rPr lang="en-US" altLang="ko-KR" dirty="0" err="1"/>
              <a:t>entity_type</a:t>
            </a:r>
            <a:r>
              <a:rPr lang="ko-KR" altLang="en-US" dirty="0"/>
              <a:t> 도입</a:t>
            </a:r>
            <a:r>
              <a:rPr lang="en-US" altLang="ko-KR" dirty="0"/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4470556-D313-8FD2-8B22-F595D531A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19" y="3573517"/>
            <a:ext cx="2497957" cy="3095450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2C454A4F-B9CE-E62E-BC90-9313C8EF7661}"/>
              </a:ext>
            </a:extLst>
          </p:cNvPr>
          <p:cNvSpPr/>
          <p:nvPr/>
        </p:nvSpPr>
        <p:spPr>
          <a:xfrm>
            <a:off x="4657022" y="4837384"/>
            <a:ext cx="1815341" cy="8723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7BC1250-A234-C1A7-F7D7-0C4AED7A9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710" y="3575211"/>
            <a:ext cx="2341297" cy="328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78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FAF67-25A8-B0BE-AF7E-B9E190B46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9C271B-7981-5EFA-042A-9B94BB7F0DA2}"/>
              </a:ext>
            </a:extLst>
          </p:cNvPr>
          <p:cNvSpPr/>
          <p:nvPr/>
        </p:nvSpPr>
        <p:spPr>
          <a:xfrm>
            <a:off x="609600" y="365125"/>
            <a:ext cx="11790680" cy="1325563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30001166-C8C9-9C69-C4E0-7C900F49DE64}"/>
              </a:ext>
            </a:extLst>
          </p:cNvPr>
          <p:cNvSpPr/>
          <p:nvPr/>
        </p:nvSpPr>
        <p:spPr>
          <a:xfrm>
            <a:off x="0" y="365125"/>
            <a:ext cx="1559560" cy="1325563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8DB1CC1-6E5A-C5B6-A0CA-412D57825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4200" cy="1325563"/>
          </a:xfrm>
        </p:spPr>
        <p:txBody>
          <a:bodyPr/>
          <a:lstStyle/>
          <a:p>
            <a:r>
              <a:rPr lang="en-US" altLang="ko-KR" dirty="0"/>
              <a:t>2    </a:t>
            </a:r>
            <a:r>
              <a:rPr lang="ko-KR" altLang="en-US" dirty="0">
                <a:solidFill>
                  <a:srgbClr val="00206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요구사항 및 설계도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CCBB12-3621-D16D-C116-B23EBCBE3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제안서와의 </a:t>
            </a:r>
            <a:r>
              <a:rPr lang="ko-KR" altLang="en-US" dirty="0" err="1"/>
              <a:t>변경점</a:t>
            </a:r>
            <a:endParaRPr lang="en-US" altLang="ko-KR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dirty="0"/>
              <a:t>3. </a:t>
            </a:r>
            <a:r>
              <a:rPr lang="ko-KR" altLang="en-US" dirty="0"/>
              <a:t>유니크 키 및 복합 유니크 키 도입</a:t>
            </a:r>
            <a:endParaRPr lang="en-US" altLang="ko-KR" dirty="0"/>
          </a:p>
          <a:p>
            <a:pPr marL="0" indent="0">
              <a:lnSpc>
                <a:spcPct val="200000"/>
              </a:lnSpc>
              <a:buNone/>
            </a:pPr>
            <a:endParaRPr lang="en-US" altLang="ko-KR" dirty="0"/>
          </a:p>
        </p:txBody>
      </p:sp>
      <p:pic>
        <p:nvPicPr>
          <p:cNvPr id="12" name="그림 1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A593F4-A108-145F-8D0F-0E95F7149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77710"/>
            <a:ext cx="6988517" cy="2580290"/>
          </a:xfrm>
          <a:prstGeom prst="rect">
            <a:avLst/>
          </a:prstGeom>
        </p:spPr>
      </p:pic>
      <p:pic>
        <p:nvPicPr>
          <p:cNvPr id="14" name="그림 1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37E885-F352-9CEC-394F-121A48CFC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116" y="3788039"/>
            <a:ext cx="6137884" cy="2201632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682F87C8-2C95-76E8-4071-EEE89F8993A8}"/>
              </a:ext>
            </a:extLst>
          </p:cNvPr>
          <p:cNvSpPr/>
          <p:nvPr/>
        </p:nvSpPr>
        <p:spPr>
          <a:xfrm>
            <a:off x="162910" y="6176963"/>
            <a:ext cx="5633545" cy="48967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738B803-1AF5-1C37-9812-E7A86CE4C8AD}"/>
              </a:ext>
            </a:extLst>
          </p:cNvPr>
          <p:cNvSpPr/>
          <p:nvPr/>
        </p:nvSpPr>
        <p:spPr>
          <a:xfrm>
            <a:off x="6096001" y="5444359"/>
            <a:ext cx="4713890" cy="36786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792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24B1078-AF88-27E5-17A5-3BBBC355CFF3}"/>
              </a:ext>
            </a:extLst>
          </p:cNvPr>
          <p:cNvSpPr/>
          <p:nvPr/>
        </p:nvSpPr>
        <p:spPr>
          <a:xfrm>
            <a:off x="609600" y="365125"/>
            <a:ext cx="11790680" cy="1325563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8A15DB75-87E0-44B8-9591-570A4D20745E}"/>
              </a:ext>
            </a:extLst>
          </p:cNvPr>
          <p:cNvSpPr/>
          <p:nvPr/>
        </p:nvSpPr>
        <p:spPr>
          <a:xfrm>
            <a:off x="0" y="365125"/>
            <a:ext cx="1559560" cy="1325563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BD04BC-2749-97EF-800E-B0E811743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4200" cy="1325563"/>
          </a:xfrm>
        </p:spPr>
        <p:txBody>
          <a:bodyPr/>
          <a:lstStyle/>
          <a:p>
            <a:r>
              <a:rPr lang="en-US" altLang="ko-KR" dirty="0"/>
              <a:t>3    </a:t>
            </a:r>
            <a:r>
              <a:rPr lang="ko-KR" altLang="en-US" dirty="0"/>
              <a:t>프로시저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0AEF6C-1EC8-31D0-FB66-EC433C146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283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30000"/>
              </a:lnSpc>
            </a:pPr>
            <a:r>
              <a:rPr lang="en-US" altLang="ko-KR" dirty="0" err="1"/>
              <a:t>UpsertSongRating</a:t>
            </a:r>
            <a:r>
              <a:rPr lang="en-US" altLang="ko-KR" dirty="0"/>
              <a:t> (</a:t>
            </a:r>
            <a:r>
              <a:rPr lang="ko-KR" altLang="en-US" dirty="0"/>
              <a:t>평점 등록</a:t>
            </a:r>
            <a:r>
              <a:rPr lang="en-US" altLang="ko-KR" dirty="0"/>
              <a:t>/</a:t>
            </a:r>
            <a:r>
              <a:rPr lang="ko-KR" altLang="en-US" dirty="0"/>
              <a:t>수정</a:t>
            </a:r>
            <a:r>
              <a:rPr lang="en-US" altLang="ko-KR" dirty="0"/>
              <a:t>) *</a:t>
            </a:r>
          </a:p>
          <a:p>
            <a:pPr>
              <a:lnSpc>
                <a:spcPct val="130000"/>
              </a:lnSpc>
            </a:pPr>
            <a:r>
              <a:rPr lang="en-US" altLang="ko-KR" dirty="0" err="1"/>
              <a:t>GetArtistStats</a:t>
            </a:r>
            <a:r>
              <a:rPr lang="en-US" altLang="ko-KR" dirty="0"/>
              <a:t> (</a:t>
            </a:r>
            <a:r>
              <a:rPr lang="ko-KR" altLang="en-US" dirty="0"/>
              <a:t>아티스트 통계</a:t>
            </a:r>
            <a:r>
              <a:rPr lang="en-US" altLang="ko-KR" dirty="0"/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dirty="0" err="1"/>
              <a:t>GetUserActivity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사용자 활동 통계</a:t>
            </a:r>
            <a:r>
              <a:rPr lang="en-US" altLang="ko-KR" dirty="0"/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dirty="0" err="1"/>
              <a:t>GetTopRatedSongs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평점이 높은 곡 차트</a:t>
            </a:r>
            <a:r>
              <a:rPr lang="en-US" altLang="ko-KR" dirty="0"/>
              <a:t>) *</a:t>
            </a:r>
          </a:p>
          <a:p>
            <a:pPr>
              <a:lnSpc>
                <a:spcPct val="130000"/>
              </a:lnSpc>
            </a:pPr>
            <a:r>
              <a:rPr lang="en-US" altLang="ko-KR" dirty="0" err="1"/>
              <a:t>GetMostRatedArtists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평가가 많은 아티스트 차트</a:t>
            </a:r>
            <a:r>
              <a:rPr lang="en-US" altLang="ko-KR" dirty="0"/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dirty="0" err="1"/>
              <a:t>SearchArtists</a:t>
            </a:r>
            <a:r>
              <a:rPr lang="en-US" altLang="ko-KR" dirty="0"/>
              <a:t> (</a:t>
            </a:r>
            <a:r>
              <a:rPr lang="ko-KR" altLang="en-US" dirty="0"/>
              <a:t>아티스트 검색</a:t>
            </a:r>
            <a:r>
              <a:rPr lang="en-US" altLang="ko-KR" dirty="0"/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dirty="0" err="1"/>
              <a:t>SearchAlbums</a:t>
            </a:r>
            <a:r>
              <a:rPr lang="en-US" altLang="ko-KR" dirty="0"/>
              <a:t> (</a:t>
            </a:r>
            <a:r>
              <a:rPr lang="ko-KR" altLang="en-US" dirty="0"/>
              <a:t>앨범 검색</a:t>
            </a:r>
            <a:r>
              <a:rPr lang="en-US" altLang="ko-KR" dirty="0"/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dirty="0" err="1"/>
              <a:t>SearchHashtags</a:t>
            </a:r>
            <a:r>
              <a:rPr lang="en-US" altLang="ko-KR" dirty="0"/>
              <a:t> (</a:t>
            </a:r>
            <a:r>
              <a:rPr lang="ko-KR" altLang="en-US" dirty="0"/>
              <a:t>해시태그 검색</a:t>
            </a:r>
            <a:r>
              <a:rPr lang="en-US" altLang="ko-KR" dirty="0"/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dirty="0" err="1"/>
              <a:t>GetSongsByHashtag</a:t>
            </a:r>
            <a:r>
              <a:rPr lang="en-US" altLang="ko-KR" dirty="0"/>
              <a:t> (</a:t>
            </a:r>
            <a:r>
              <a:rPr lang="ko-KR" altLang="en-US" dirty="0"/>
              <a:t>해시태그로 노래 목록 가져오기</a:t>
            </a:r>
            <a:r>
              <a:rPr lang="en-US" altLang="ko-KR" dirty="0"/>
              <a:t>) *</a:t>
            </a:r>
          </a:p>
          <a:p>
            <a:pPr>
              <a:lnSpc>
                <a:spcPct val="13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5961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52E5E-0441-B4C9-C54E-038A3A3AF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6ACC3FE-3B62-49C5-66E5-4826A761514C}"/>
              </a:ext>
            </a:extLst>
          </p:cNvPr>
          <p:cNvSpPr/>
          <p:nvPr/>
        </p:nvSpPr>
        <p:spPr>
          <a:xfrm>
            <a:off x="609600" y="365125"/>
            <a:ext cx="11790680" cy="1325563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29BF82A6-1365-A551-56B5-F3C8F436B44C}"/>
              </a:ext>
            </a:extLst>
          </p:cNvPr>
          <p:cNvSpPr/>
          <p:nvPr/>
        </p:nvSpPr>
        <p:spPr>
          <a:xfrm>
            <a:off x="0" y="365125"/>
            <a:ext cx="1559560" cy="1325563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C1D8492-6155-4B8A-5663-BF0EFBEF2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4200" cy="1325563"/>
          </a:xfrm>
        </p:spPr>
        <p:txBody>
          <a:bodyPr/>
          <a:lstStyle/>
          <a:p>
            <a:r>
              <a:rPr lang="en-US" altLang="ko-KR" dirty="0"/>
              <a:t>3    </a:t>
            </a:r>
            <a:r>
              <a:rPr lang="ko-KR" altLang="en-US" dirty="0"/>
              <a:t>프로시저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702955-EED7-E363-EB81-E9CFF91A3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ko-KR" dirty="0" err="1"/>
              <a:t>UpsertSongRating</a:t>
            </a:r>
            <a:r>
              <a:rPr lang="en-US" altLang="ko-KR" dirty="0"/>
              <a:t> (</a:t>
            </a:r>
            <a:r>
              <a:rPr lang="ko-KR" altLang="en-US" dirty="0"/>
              <a:t>평점 등록</a:t>
            </a:r>
            <a:r>
              <a:rPr lang="en-US" altLang="ko-KR" dirty="0"/>
              <a:t>/</a:t>
            </a:r>
            <a:r>
              <a:rPr lang="ko-KR" altLang="en-US" dirty="0"/>
              <a:t>수정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ko-KR" sz="2000" dirty="0"/>
              <a:t> *ON DUPLICATE KEY UPDATE : </a:t>
            </a:r>
            <a:r>
              <a:rPr lang="ko-KR" altLang="en-US" sz="2000" dirty="0"/>
              <a:t>유니크 키 </a:t>
            </a:r>
            <a:r>
              <a:rPr lang="en-US" altLang="ko-KR" sz="2000" dirty="0"/>
              <a:t>&amp; PK </a:t>
            </a:r>
            <a:r>
              <a:rPr lang="ko-KR" altLang="en-US" sz="2000" dirty="0"/>
              <a:t>중복 시 지정 데이터 </a:t>
            </a:r>
            <a:r>
              <a:rPr lang="en-US" altLang="ko-KR" sz="2000" dirty="0"/>
              <a:t>UPDATE.</a:t>
            </a:r>
          </a:p>
          <a:p>
            <a:pPr>
              <a:lnSpc>
                <a:spcPct val="130000"/>
              </a:lnSpc>
            </a:pP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A1E89F-3EAB-123D-DBD9-0A51A7D67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640" y="3429000"/>
            <a:ext cx="7840719" cy="296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951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CBFA2-ECF0-6086-7260-AED070F53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4CA8B54-1194-54FD-E533-709599F87BA8}"/>
              </a:ext>
            </a:extLst>
          </p:cNvPr>
          <p:cNvSpPr/>
          <p:nvPr/>
        </p:nvSpPr>
        <p:spPr>
          <a:xfrm>
            <a:off x="609600" y="365125"/>
            <a:ext cx="11790680" cy="1325563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8DE9AB30-86DA-6EDD-5FB2-4D7DE17A126C}"/>
              </a:ext>
            </a:extLst>
          </p:cNvPr>
          <p:cNvSpPr/>
          <p:nvPr/>
        </p:nvSpPr>
        <p:spPr>
          <a:xfrm>
            <a:off x="0" y="365125"/>
            <a:ext cx="1559560" cy="1325563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A84865-9379-D4FD-4B70-46E5FF07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4200" cy="1325563"/>
          </a:xfrm>
        </p:spPr>
        <p:txBody>
          <a:bodyPr/>
          <a:lstStyle/>
          <a:p>
            <a:r>
              <a:rPr lang="en-US" altLang="ko-KR" dirty="0"/>
              <a:t>3    </a:t>
            </a:r>
            <a:r>
              <a:rPr lang="ko-KR" altLang="en-US" dirty="0"/>
              <a:t>프로시저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4D958B-297A-187A-C58A-FE241729F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ko-KR" dirty="0" err="1"/>
              <a:t>GetTopRatedSongs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평점이 높은 곡 차트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30000"/>
              </a:lnSpc>
              <a:buNone/>
            </a:pPr>
            <a:endParaRPr lang="en-US" altLang="ko-KR" dirty="0"/>
          </a:p>
          <a:p>
            <a:pPr>
              <a:lnSpc>
                <a:spcPct val="130000"/>
              </a:lnSpc>
            </a:pPr>
            <a:endParaRPr lang="en-US" altLang="ko-KR" dirty="0"/>
          </a:p>
          <a:p>
            <a:pPr marL="0" indent="0">
              <a:lnSpc>
                <a:spcPct val="130000"/>
              </a:lnSpc>
              <a:buNone/>
            </a:pPr>
            <a:endParaRPr lang="en-US" altLang="ko-KR" dirty="0"/>
          </a:p>
          <a:p>
            <a:pPr>
              <a:lnSpc>
                <a:spcPct val="130000"/>
              </a:lnSpc>
            </a:pP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E440C32-55A9-04EB-88EE-9C1637413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643" y="2590800"/>
            <a:ext cx="4854713" cy="4267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BF38262-2AB3-5649-D1DC-BFE91F8FD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2417119"/>
            <a:ext cx="3809235" cy="89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791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B705D-A581-84F3-F32E-B2CBDBAE6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8BA161B-2492-CAC0-E2A9-008D61782BE4}"/>
              </a:ext>
            </a:extLst>
          </p:cNvPr>
          <p:cNvSpPr/>
          <p:nvPr/>
        </p:nvSpPr>
        <p:spPr>
          <a:xfrm>
            <a:off x="609600" y="365125"/>
            <a:ext cx="11790680" cy="1325563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A53D0695-1EF8-ED58-1994-88A99852F854}"/>
              </a:ext>
            </a:extLst>
          </p:cNvPr>
          <p:cNvSpPr/>
          <p:nvPr/>
        </p:nvSpPr>
        <p:spPr>
          <a:xfrm>
            <a:off x="0" y="365125"/>
            <a:ext cx="1559560" cy="1325563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64D7AE-E177-5479-A1D1-AAC035A1C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4200" cy="1325563"/>
          </a:xfrm>
        </p:spPr>
        <p:txBody>
          <a:bodyPr/>
          <a:lstStyle/>
          <a:p>
            <a:r>
              <a:rPr lang="en-US" altLang="ko-KR" dirty="0"/>
              <a:t>3    </a:t>
            </a:r>
            <a:r>
              <a:rPr lang="ko-KR" altLang="en-US" dirty="0"/>
              <a:t>프로시저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98A3DA-49FC-5957-33BD-2514660DA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ko-KR" dirty="0" err="1"/>
              <a:t>GetSongsByHashtag</a:t>
            </a:r>
            <a:r>
              <a:rPr lang="en-US" altLang="ko-KR" dirty="0"/>
              <a:t> (</a:t>
            </a:r>
            <a:r>
              <a:rPr lang="ko-KR" altLang="en-US" dirty="0"/>
              <a:t>해시태그로 노래 목록 가져오기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30000"/>
              </a:lnSpc>
              <a:buNone/>
            </a:pPr>
            <a:endParaRPr lang="en-US" altLang="ko-KR" dirty="0"/>
          </a:p>
          <a:p>
            <a:pPr>
              <a:lnSpc>
                <a:spcPct val="130000"/>
              </a:lnSpc>
            </a:pP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D4505AE-CA90-1813-5589-4D8D532B5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689" y="2555493"/>
            <a:ext cx="5694622" cy="430250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78A5EA8-C935-5CF0-C1D7-7111317B2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2412355"/>
            <a:ext cx="4042636" cy="90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49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50A07-F8AD-F4B2-12AE-BAE389935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8450228-8F77-79A4-6FB1-82C6A2615A6F}"/>
              </a:ext>
            </a:extLst>
          </p:cNvPr>
          <p:cNvSpPr/>
          <p:nvPr/>
        </p:nvSpPr>
        <p:spPr>
          <a:xfrm>
            <a:off x="609600" y="365125"/>
            <a:ext cx="11790680" cy="1325563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80E8FBE1-7C44-4700-0B18-688C0F4B6207}"/>
              </a:ext>
            </a:extLst>
          </p:cNvPr>
          <p:cNvSpPr/>
          <p:nvPr/>
        </p:nvSpPr>
        <p:spPr>
          <a:xfrm>
            <a:off x="0" y="365125"/>
            <a:ext cx="1559560" cy="1325563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BE7EBD8-F38A-09FF-7779-5CDCF43F4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4200" cy="1325563"/>
          </a:xfrm>
        </p:spPr>
        <p:txBody>
          <a:bodyPr/>
          <a:lstStyle/>
          <a:p>
            <a:r>
              <a:rPr lang="en-US" altLang="ko-KR" dirty="0"/>
              <a:t>4    </a:t>
            </a:r>
            <a:r>
              <a:rPr lang="ko-KR" altLang="en-US" dirty="0"/>
              <a:t>프로젝트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1CF108-570B-89FE-A4F1-C9905A610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1407"/>
            <a:ext cx="10515600" cy="3985556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2648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86C16-5A9D-2684-9EC5-FA813CD9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FE03CF6-6BDE-E8B6-301D-ADE77706476A}"/>
              </a:ext>
            </a:extLst>
          </p:cNvPr>
          <p:cNvSpPr/>
          <p:nvPr/>
        </p:nvSpPr>
        <p:spPr>
          <a:xfrm>
            <a:off x="609600" y="365125"/>
            <a:ext cx="11790680" cy="1325563"/>
          </a:xfrm>
          <a:prstGeom prst="roundRect">
            <a:avLst/>
          </a:prstGeom>
          <a:solidFill>
            <a:srgbClr val="F1F1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465EBB11-2B4A-C68D-6D42-08FEF7508750}"/>
              </a:ext>
            </a:extLst>
          </p:cNvPr>
          <p:cNvSpPr/>
          <p:nvPr/>
        </p:nvSpPr>
        <p:spPr>
          <a:xfrm>
            <a:off x="0" y="365125"/>
            <a:ext cx="1559560" cy="1325563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467831-B058-0051-5FBD-D40AF7488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4200" cy="1325563"/>
          </a:xfrm>
        </p:spPr>
        <p:txBody>
          <a:bodyPr/>
          <a:lstStyle/>
          <a:p>
            <a:r>
              <a:rPr lang="en-US" altLang="ko-KR" dirty="0"/>
              <a:t>     </a:t>
            </a:r>
            <a:r>
              <a:rPr lang="ko-KR" altLang="en-US" dirty="0"/>
              <a:t>레퍼런스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BD4277-C084-CB33-FBE0-50E6C09BC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1407"/>
            <a:ext cx="10515600" cy="3985556"/>
          </a:xfrm>
        </p:spPr>
        <p:txBody>
          <a:bodyPr>
            <a:normAutofit/>
          </a:bodyPr>
          <a:lstStyle/>
          <a:p>
            <a:r>
              <a:rPr lang="en-US" altLang="ko-KR" dirty="0"/>
              <a:t>Gemini (</a:t>
            </a:r>
            <a:r>
              <a:rPr lang="ko-KR" altLang="en-US" dirty="0"/>
              <a:t>프론트 엔드 전반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Ch05_</a:t>
            </a:r>
            <a:r>
              <a:rPr lang="ko-KR" altLang="en-US" dirty="0"/>
              <a:t>데이터베이스</a:t>
            </a:r>
            <a:r>
              <a:rPr lang="en-US" altLang="ko-KR" dirty="0"/>
              <a:t>_</a:t>
            </a:r>
            <a:r>
              <a:rPr lang="ko-KR" altLang="en-US" dirty="0"/>
              <a:t>프로그래밍</a:t>
            </a:r>
            <a:r>
              <a:rPr lang="en-US" altLang="ko-KR" dirty="0"/>
              <a:t>-7 (</a:t>
            </a:r>
            <a:r>
              <a:rPr lang="ko-KR" altLang="en-US" dirty="0"/>
              <a:t>웹 프로그래밍</a:t>
            </a:r>
            <a:r>
              <a:rPr lang="en-US" altLang="ko-KR" dirty="0"/>
              <a:t>)</a:t>
            </a:r>
          </a:p>
          <a:p>
            <a:r>
              <a:rPr lang="en-US" altLang="ko-KR" dirty="0">
                <a:hlinkClick r:id="rId2"/>
              </a:rPr>
              <a:t>https://gu-ma.tistory.com/3</a:t>
            </a:r>
            <a:r>
              <a:rPr lang="en-US" altLang="ko-KR" dirty="0"/>
              <a:t> (</a:t>
            </a:r>
            <a:r>
              <a:rPr lang="ko-KR" altLang="en-US" dirty="0"/>
              <a:t>유니크 키</a:t>
            </a:r>
            <a:r>
              <a:rPr lang="en-US" altLang="ko-KR" dirty="0"/>
              <a:t>)</a:t>
            </a:r>
          </a:p>
          <a:p>
            <a:r>
              <a:rPr lang="en-US" altLang="ko-KR" sz="1600" dirty="0">
                <a:hlinkClick r:id="rId3"/>
              </a:rPr>
              <a:t>https://rachel0115.tistory.com/entry/MySQL-%EC%9D%B8%EB%8D%B1%EC%8A%A4-INDEX-%EC%A0%95%EB%A6%AC-%EB%8F%99%EC%9E%91-%EB%B0%A9%EC%8B%9D-%EC%83%9D%EC%84%B1-%EC%82%AD%EC%A0%9C-%EC%84%A4%EA%B3%84</a:t>
            </a:r>
            <a:r>
              <a:rPr lang="en-US" altLang="ko-KR" sz="1600" dirty="0"/>
              <a:t> </a:t>
            </a:r>
            <a:r>
              <a:rPr lang="en-US" altLang="ko-KR" sz="1800" dirty="0"/>
              <a:t>(index --note</a:t>
            </a:r>
            <a:r>
              <a:rPr lang="ko-KR" altLang="en-US" sz="1800" dirty="0"/>
              <a:t> 테이블</a:t>
            </a:r>
            <a:r>
              <a:rPr lang="en-US" altLang="ko-KR" sz="1800" dirty="0"/>
              <a:t>)</a:t>
            </a:r>
          </a:p>
          <a:p>
            <a:r>
              <a:rPr lang="en-US" altLang="ko-KR" sz="2000" dirty="0">
                <a:hlinkClick r:id="rId4"/>
              </a:rPr>
              <a:t>https://bamdule.tistory.com/112#google_vignette</a:t>
            </a:r>
            <a:r>
              <a:rPr lang="en-US" altLang="ko-KR" sz="2000" dirty="0"/>
              <a:t> (DUPLICATE KEY UPDATE)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5848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32FD-80D8-49CB-6C93-819E65EE3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3A8590-11EF-657D-494C-BA0CE0F8C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0793" y="2766218"/>
            <a:ext cx="4230414" cy="1325563"/>
          </a:xfrm>
        </p:spPr>
        <p:txBody>
          <a:bodyPr>
            <a:normAutofit/>
          </a:bodyPr>
          <a:lstStyle/>
          <a:p>
            <a:r>
              <a:rPr lang="ko-KR" altLang="en-US" sz="6000" dirty="0"/>
              <a:t>감사합니다</a:t>
            </a:r>
            <a:r>
              <a:rPr lang="en-US" altLang="ko-KR" sz="6000" dirty="0"/>
              <a:t>.</a:t>
            </a:r>
            <a:endParaRPr lang="ko-KR" altLang="en-US" sz="6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AB15A1-98A9-79AB-524E-D1F6E7B38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1407"/>
            <a:ext cx="10515600" cy="3985556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4343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4443</TotalTime>
  <Words>463</Words>
  <Application>Microsoft Office PowerPoint</Application>
  <PresentationFormat>와이드스크린</PresentationFormat>
  <Paragraphs>65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Noto Sans KR DemiLight</vt:lpstr>
      <vt:lpstr>맑은 고딕</vt:lpstr>
      <vt:lpstr>Arial</vt:lpstr>
      <vt:lpstr>Office 테마</vt:lpstr>
      <vt:lpstr>음악 기록 및 커스텀 플랫폼</vt:lpstr>
      <vt:lpstr>PowerPoint 프레젠테이션</vt:lpstr>
      <vt:lpstr>1    주제 선정 이유</vt:lpstr>
      <vt:lpstr>2    요구사항 및 설계도</vt:lpstr>
      <vt:lpstr>2    요구사항 및 설계도 (제안서)</vt:lpstr>
      <vt:lpstr>2    요구사항 및 설계도 (최종 테이블)</vt:lpstr>
      <vt:lpstr>2    요구사항 및 설계도 (최종 테이블)</vt:lpstr>
      <vt:lpstr>2    요구사항 및 설계도</vt:lpstr>
      <vt:lpstr>2    요구사항 및 설계도</vt:lpstr>
      <vt:lpstr>2    요구사항 및 설계도</vt:lpstr>
      <vt:lpstr>2    요구사항 및 설계도</vt:lpstr>
      <vt:lpstr>3    프로시저 설명</vt:lpstr>
      <vt:lpstr>3    프로시저 설명</vt:lpstr>
      <vt:lpstr>3    프로시저 설명</vt:lpstr>
      <vt:lpstr>3    프로시저 설명</vt:lpstr>
      <vt:lpstr>4    프로젝트 실행</vt:lpstr>
      <vt:lpstr>     레퍼런스</vt:lpstr>
      <vt:lpstr>감사합니다.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임도언[ 학부재학 / 컴퓨터융합소프트웨어학과 ]</cp:lastModifiedBy>
  <cp:revision>54</cp:revision>
  <dcterms:created xsi:type="dcterms:W3CDTF">2025-09-25T01:03:46Z</dcterms:created>
  <dcterms:modified xsi:type="dcterms:W3CDTF">2025-11-23T13:16:04Z</dcterms:modified>
</cp:coreProperties>
</file>